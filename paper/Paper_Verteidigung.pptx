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F3460"/>
                </a:solidFill>
                <a:latin typeface="Arial"/>
              </a:defRPr>
            </a:pPr>
            <a:r>
              <a:rPr sz="1200" b="0" i="0" u="none" strike="noStrike">
                <a:solidFill>
                  <a:srgbClr val="0F3460"/>
                </a:solidFill>
                <a:latin typeface="Arial"/>
              </a:rPr>
              <a:t>C-Index nach Geraet (vs. y_extrap)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TinyML</c:v>
                </c:pt>
              </c:strCache>
            </c:strRef>
          </c:tx>
          <c:spPr>
            <a:solidFill>
              <a:srgbClr val="2196F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Pixel 7 Pro</c:v>
                  </c:pt>
                  <c:pt idx="1">
                    <c:v>Pixel 8 Pro</c:v>
                  </c:pt>
                  <c:pt idx="2">
                    <c:v>Pixel 9 Pro XL</c:v>
                  </c:pt>
                  <c:pt idx="3">
                    <c:v>Xiaomi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0.786</c:v>
                </c:pt>
                <c:pt idx="1">
                  <c:v>0.714</c:v>
                </c:pt>
                <c:pt idx="2">
                  <c:v>0.599</c:v>
                </c:pt>
                <c:pt idx="3">
                  <c:v>0.593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Random Forest</c:v>
                </c:pt>
              </c:strCache>
            </c:strRef>
          </c:tx>
          <c:spPr>
            <a:solidFill>
              <a:srgbClr val="9C27B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Pixel 7 Pro</c:v>
                  </c:pt>
                  <c:pt idx="1">
                    <c:v>Pixel 8 Pro</c:v>
                  </c:pt>
                  <c:pt idx="2">
                    <c:v>Pixel 9 Pro XL</c:v>
                  </c:pt>
                  <c:pt idx="3">
                    <c:v>Xiaomi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0.804</c:v>
                </c:pt>
                <c:pt idx="1">
                  <c:v>0.801</c:v>
                </c:pt>
                <c:pt idx="2">
                  <c:v>0.759</c:v>
                </c:pt>
                <c:pt idx="3">
                  <c:v>0.631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Linear</c:v>
                </c:pt>
              </c:strCache>
            </c:strRef>
          </c:tx>
          <c:spPr>
            <a:solidFill>
              <a:srgbClr val="455A6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Pixel 7 Pro</c:v>
                  </c:pt>
                  <c:pt idx="1">
                    <c:v>Pixel 8 Pro</c:v>
                  </c:pt>
                  <c:pt idx="2">
                    <c:v>Pixel 9 Pro XL</c:v>
                  </c:pt>
                  <c:pt idx="3">
                    <c:v>Xiaomi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0.792</c:v>
                </c:pt>
                <c:pt idx="1">
                  <c:v>0.696</c:v>
                </c:pt>
                <c:pt idx="2">
                  <c:v>0.73</c:v>
                </c:pt>
                <c:pt idx="3">
                  <c:v>0.724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Google API</c:v>
                </c:pt>
              </c:strCache>
            </c:strRef>
          </c:tx>
          <c:spPr>
            <a:solidFill>
              <a:srgbClr val="FF980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Pixel 7 Pro</c:v>
                  </c:pt>
                  <c:pt idx="1">
                    <c:v>Pixel 8 Pro</c:v>
                  </c:pt>
                  <c:pt idx="2">
                    <c:v>Pixel 9 Pro XL</c:v>
                  </c:pt>
                  <c:pt idx="3">
                    <c:v>Xiaomi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0.853</c:v>
                </c:pt>
                <c:pt idx="1">
                  <c:v>0.921</c:v>
                </c:pt>
                <c:pt idx="2">
                  <c:v>0.677</c:v>
                </c:pt>
                <c:pt idx="3">
                  <c:v>0.664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.5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37160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App-Level TinyML fuer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201168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Akkulaufzeit-Vorhersage auf Android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548640" y="2788920"/>
            <a:ext cx="1280160" cy="54864"/>
          </a:xfrm>
          <a:prstGeom prst="rect">
            <a:avLst/>
          </a:prstGeom>
          <a:solidFill>
            <a:srgbClr val="E94560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292608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 methodisch ehrlicher Erfahrungsbericht aus dem Multi-Device-Vergleich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3840480"/>
            <a:ext cx="80467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Keno Schuerger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9CB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Technische Hochschule Wuerzburg-Schweinfurt (THWS)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9CB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Vertiefungsseminar - Sommersemester 2026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B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15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Forschungsfrage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73152" cy="182880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1188720"/>
            <a:ext cx="786384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"Wie gut kann TinyML die Akkulaufzeit auf Android vorhersagen im Vergleich zu exponentiellem Fitting und der nativen Google-API, bezogen auf Genauigkeit sowie Effizienz?"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3383280"/>
            <a:ext cx="2377440" cy="1188720"/>
          </a:xfrm>
          <a:prstGeom prst="rect">
            <a:avLst/>
          </a:prstGeom>
          <a:solidFill>
            <a:srgbClr val="F5F7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3383280"/>
            <a:ext cx="2377440" cy="73152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349300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9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48640" y="37947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TinyML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andere Methoden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383280" y="3383280"/>
            <a:ext cx="2377440" cy="1188720"/>
          </a:xfrm>
          <a:prstGeom prst="rect">
            <a:avLst/>
          </a:prstGeom>
          <a:solidFill>
            <a:srgbClr val="F5F7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383280" y="3383280"/>
            <a:ext cx="2377440" cy="73152"/>
          </a:xfrm>
          <a:prstGeom prst="rect">
            <a:avLst/>
          </a:prstGeom>
          <a:solidFill>
            <a:srgbClr val="4CAF50"/>
          </a:solidFill>
          <a:ln/>
        </p:spPr>
      </p:sp>
      <p:sp>
        <p:nvSpPr>
          <p:cNvPr id="11" name="Text 9"/>
          <p:cNvSpPr/>
          <p:nvPr/>
        </p:nvSpPr>
        <p:spPr>
          <a:xfrm>
            <a:off x="3474720" y="349300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Achse 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474720" y="37947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Genauigkeit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(C-Index, MAE)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309360" y="3383280"/>
            <a:ext cx="2377440" cy="1188720"/>
          </a:xfrm>
          <a:prstGeom prst="rect">
            <a:avLst/>
          </a:prstGeom>
          <a:solidFill>
            <a:srgbClr val="F5F7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309360" y="3383280"/>
            <a:ext cx="2377440" cy="73152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0" y="349300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Achse 2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400800" y="37947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Effizienz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(Latenz, Modellgroesse)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Schuerger - TinyML fuer Akkulaufzeit-Vorhersage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15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Motivation: Akkuvorhersage auf Android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5156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39319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Klassisch: Settings-App rechnet linear hoch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Ignoriert aktuelle Nutzung, App-Kontext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MIUI/OneUI: oft Legacy-Code seit Android 5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754880" y="105156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sich seit Android 12 (2021) aendert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754880" y="1417320"/>
            <a:ext cx="39319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PowerManager.getBatteryDischargePrediction()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Erstes ML-Modell direkt im Android-System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Laeuft im Systemprozess - privilegierter Zugriff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3383280"/>
            <a:ext cx="8229600" cy="914400"/>
          </a:xfrm>
          <a:prstGeom prst="rect">
            <a:avLst/>
          </a:prstGeom>
          <a:solidFill>
            <a:srgbClr val="FFF6E5"/>
          </a:solidFill>
          <a:ln w="12700">
            <a:solidFill>
              <a:srgbClr val="FF98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345643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Worum es im Kern geht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370332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Kann eine Drittanbieter-App, die nur oeffentliche Sensor-APIs nutzt, mit der System-API mithalten - oder ueberhaupt etwas Sinnvolles lernen?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Schuerger - TinyML fuer Akkulaufzeit-Vorhersage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15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Verwandte Arbeiten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4023360" cy="16916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51560"/>
            <a:ext cx="73152" cy="169164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14300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 et al. (2018)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43560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Smartphone Battery Prediction at Scale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173736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 Nutzer, 21 Monate. Fuehrt den Concordance-Index als Standard-Metrik ein, weil das 'severe data missing problem' (User entladen selten auf 0%) MAE unzuverlaessig macht.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663440" y="1051560"/>
            <a:ext cx="4023360" cy="16916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663440" y="1051560"/>
            <a:ext cx="73152" cy="1691640"/>
          </a:xfrm>
          <a:prstGeom prst="rect">
            <a:avLst/>
          </a:prstGeom>
          <a:solidFill>
            <a:srgbClr val="4CAF50"/>
          </a:solidFill>
          <a:ln/>
        </p:spPr>
      </p:sp>
      <p:sp>
        <p:nvSpPr>
          <p:cNvPr id="10" name="Text 8"/>
          <p:cNvSpPr/>
          <p:nvPr/>
        </p:nvSpPr>
        <p:spPr>
          <a:xfrm>
            <a:off x="4846320" y="114300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Flores-Martin et al. (2024)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846320" y="143560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Learning auf Android, DNN vs. LSTM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846320" y="173736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Direkter Methodik-Verwandter. LSTM auf user-spezifischen App-, Sensor-, Screen-Time-Features.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2926080"/>
            <a:ext cx="4023360" cy="16916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7200" y="2926080"/>
            <a:ext cx="73152" cy="1691640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301752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Banbury et al. (2021) - MLPerf Tiny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40080" y="331012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Industriestandard-Benchmark fuer TinyML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40080" y="361188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Misst Accuracy, Latency, Energy gemeinsam. Smartphone-Anwendungen fehlen in der Literatur (siehe Heydari &amp; Mahmoud 2025, Alajlan &amp; Ibrahim 2022).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663440" y="2926080"/>
            <a:ext cx="4023360" cy="16916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63440" y="2926080"/>
            <a:ext cx="73152" cy="1691640"/>
          </a:xfrm>
          <a:prstGeom prst="rect">
            <a:avLst/>
          </a:prstGeom>
          <a:solidFill>
            <a:srgbClr val="E94560"/>
          </a:solidFill>
          <a:ln/>
        </p:spPr>
      </p:sp>
      <p:sp>
        <p:nvSpPr>
          <p:cNvPr id="20" name="Text 18"/>
          <p:cNvSpPr/>
          <p:nvPr/>
        </p:nvSpPr>
        <p:spPr>
          <a:xfrm>
            <a:off x="4846320" y="301752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Albelali &amp; Ahmed (2025)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846320" y="331012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Hidden Leaks in Time Series Forecasting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846320" y="361188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Random-Shuffle-Splits ueber Sliding-Window-Sequenzen lecken Future-Information. RMSE Gain bis 20.5% bei 10-fold CV (LSTM).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Schuerger - TinyML fuer Akkulaufzeit-Vorhersage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15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Datensammlung: 4 Geraete, 45 Tage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1874520" cy="100584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09728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66.001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627632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Messungen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560320" y="1051560"/>
            <a:ext cx="1874520" cy="100584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7" name="Text 5"/>
          <p:cNvSpPr/>
          <p:nvPr/>
        </p:nvSpPr>
        <p:spPr>
          <a:xfrm>
            <a:off x="2560320" y="109728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2560320" y="1627632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Geraete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663440" y="1051560"/>
            <a:ext cx="1874520" cy="100584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10" name="Text 8"/>
          <p:cNvSpPr/>
          <p:nvPr/>
        </p:nvSpPr>
        <p:spPr>
          <a:xfrm>
            <a:off x="4663440" y="109728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Tage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4663440" y="1627632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Zeitraum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766560" y="1051560"/>
            <a:ext cx="1874520" cy="100584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13" name="Text 11"/>
          <p:cNvSpPr/>
          <p:nvPr/>
        </p:nvSpPr>
        <p:spPr>
          <a:xfrm>
            <a:off x="6766560" y="109728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180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6766560" y="1627632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Sessions</a:t>
            </a:r>
            <a:endParaRPr lang="en-US" sz="1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331720"/>
          <a:ext cx="594360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371600"/>
                <a:gridCol w="1097280"/>
                <a:gridCol w="13716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Geraet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Messungen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Sessions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Aktive Tage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Xiaomi 2107113SG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38.087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Pixel 7 Pro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16.919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Pixel 9 Pro XL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7.641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Pixel 8 Pro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3.354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6" name="Shape 13"/>
          <p:cNvSpPr/>
          <p:nvPr/>
        </p:nvSpPr>
        <p:spPr>
          <a:xfrm>
            <a:off x="6675120" y="2331720"/>
            <a:ext cx="2011680" cy="22402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766560" y="24231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Features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6766560" y="2715768"/>
            <a:ext cx="1828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battery_level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screen_on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brightness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active_app_category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wifi_on / mobile_data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charging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cpu_usage (proxy)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temperature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hotspot_on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Schuerger - TinyML fuer Akkulaufzeit-Vorhersage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Sechs Methoden im Vergleich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517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8100000">
              <a:srgbClr val="000000">
                <a:alpha val="6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1097280"/>
            <a:ext cx="2651760" cy="73152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5" name="Text 3"/>
          <p:cNvSpPr/>
          <p:nvPr/>
        </p:nvSpPr>
        <p:spPr>
          <a:xfrm>
            <a:off x="594360" y="12344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9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TinyML Conv1D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94360" y="15544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Eigenes Modell, 5.697 Param., 14 KB INT8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94360" y="21762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Hauptmodell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46120" y="1097280"/>
            <a:ext cx="26517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8100000">
              <a:srgbClr val="000000">
                <a:alpha val="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246120" y="1097280"/>
            <a:ext cx="2651760" cy="73152"/>
          </a:xfrm>
          <a:prstGeom prst="rect">
            <a:avLst/>
          </a:prstGeom>
          <a:solidFill>
            <a:srgbClr val="9C27B0"/>
          </a:solidFill>
          <a:ln/>
        </p:spPr>
      </p:sp>
      <p:sp>
        <p:nvSpPr>
          <p:cNvPr id="10" name="Text 8"/>
          <p:cNvSpPr/>
          <p:nvPr/>
        </p:nvSpPr>
        <p:spPr>
          <a:xfrm>
            <a:off x="3383280" y="12344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C2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383280" y="15544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Trees auf gleichen Features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383280" y="21762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Sanity (anderes Paradigma)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35040" y="1097280"/>
            <a:ext cx="26517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8100000">
              <a:srgbClr val="000000">
                <a:alpha val="6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035040" y="1097280"/>
            <a:ext cx="2651760" cy="73152"/>
          </a:xfrm>
          <a:prstGeom prst="rect">
            <a:avLst/>
          </a:prstGeom>
          <a:solidFill>
            <a:srgbClr val="9E9E9E"/>
          </a:solidFill>
          <a:ln/>
        </p:spPr>
      </p:sp>
      <p:sp>
        <p:nvSpPr>
          <p:cNvPr id="15" name="Text 13"/>
          <p:cNvSpPr/>
          <p:nvPr/>
        </p:nvSpPr>
        <p:spPr>
          <a:xfrm>
            <a:off x="6172200" y="12344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E9E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Predictor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172200" y="15544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Konstante = Trainings-Mittelwert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172200" y="21762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Floor (kein Feature-Lernen)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7200" y="2788920"/>
            <a:ext cx="26517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8100000">
              <a:srgbClr val="000000">
                <a:alpha val="6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57200" y="2788920"/>
            <a:ext cx="2651760" cy="73152"/>
          </a:xfrm>
          <a:prstGeom prst="rect">
            <a:avLst/>
          </a:prstGeom>
          <a:solidFill>
            <a:srgbClr val="455A64"/>
          </a:solidFill>
          <a:ln/>
        </p:spPr>
      </p:sp>
      <p:sp>
        <p:nvSpPr>
          <p:cNvPr id="20" name="Text 18"/>
          <p:cNvSpPr/>
          <p:nvPr/>
        </p:nvSpPr>
        <p:spPr>
          <a:xfrm>
            <a:off x="594360" y="29260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Baseline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94360" y="32461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battery / drain_rate (BatteryManager)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94360" y="386791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Analytische Baseline 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246120" y="2788920"/>
            <a:ext cx="26517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8100000">
              <a:srgbClr val="000000">
                <a:alpha val="6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3246120" y="2788920"/>
            <a:ext cx="2651760" cy="73152"/>
          </a:xfrm>
          <a:prstGeom prst="rect">
            <a:avLst/>
          </a:prstGeom>
          <a:solidFill>
            <a:srgbClr val="4CAF50"/>
          </a:solidFill>
          <a:ln/>
        </p:spPr>
      </p:sp>
      <p:sp>
        <p:nvSpPr>
          <p:cNvPr id="25" name="Text 23"/>
          <p:cNvSpPr/>
          <p:nvPr/>
        </p:nvSpPr>
        <p:spPr>
          <a:xfrm>
            <a:off x="3383280" y="29260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Exponential Fit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3383280" y="32461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b(t) = a + c*exp(-k*t) per Segment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383280" y="386791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Analytische Baseline 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035040" y="2788920"/>
            <a:ext cx="26517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8100000">
              <a:srgbClr val="000000">
                <a:alpha val="6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035040" y="2788920"/>
            <a:ext cx="2651760" cy="73152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30" name="Text 28"/>
          <p:cNvSpPr/>
          <p:nvPr/>
        </p:nvSpPr>
        <p:spPr>
          <a:xfrm>
            <a:off x="6172200" y="29260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API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172200" y="32461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getBatteryDischargePrediction() (Android 12+)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172200" y="386791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 the Art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Schuerger - TinyML fuer Akkulaufzeit-Vorhersage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Methodik-Kernpunkt: Segment-Level-Split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Problem: Random-Shuffle ueber Sliding-Window-Sequenzen leckt Future-Information</a:t>
            </a:r>
            <a:endParaRPr lang="en-US" sz="1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280160"/>
                <a:gridCol w="1920240"/>
                <a:gridCol w="1920240"/>
                <a:gridCol w="8229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Setup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Sequenzen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MAE Random-Split (leaky)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MAE Segment-Level (clean)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Inflation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 Device (Xiaomi)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9.024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 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94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9.96 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94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~19x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Multi-Device (4 Geraete)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20.842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4.00 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4CA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4.97 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4CA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~1.24x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2606040"/>
            <a:ext cx="8229600" cy="20116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269748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das bedeutet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640080" y="3063240"/>
            <a:ext cx="7863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Single-Device: random-shuffle taeuscht eine 19x bessere Performance vor - reines Leakage-Artefakt.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Multi-Device: nur noch 1.24x Inflation, im Bereich von Albelali &amp; Ahmed (2025) mit 10-fold CV.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Eigener methodischer Beitrag: Inflation ist data-diversity-dependent. Empfehlung fuer Folgearbeiten in dieser Domaene: Splitting-Strategie explizit nennen.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Schuerger - TinyML fuer Akkulaufzeit-Vorhersage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15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Ergebnis 1: Common Subset (n=2.827)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vs. y_extrap, 95% Bootstrap-CI, leakage-freier Multi-Device-Split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8229600" cy="292608"/>
          </a:xfrm>
          <a:prstGeom prst="rect">
            <a:avLst/>
          </a:prstGeom>
          <a:solidFill>
            <a:srgbClr val="F0F4F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298448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C-Index: Anteil korrekt geordneter Vorhersage-Paare. 0,5 = Muenzwurf, 1,0 = perfekt. MAE: durchschnittliche Abweichung in Stunden.</a:t>
            </a:r>
            <a:endParaRPr lang="en-US" sz="1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91640"/>
          <a:ext cx="8229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097280"/>
                <a:gridCol w="1097280"/>
                <a:gridCol w="2377440"/>
                <a:gridCol w="1280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MAE (h)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RMSE (h)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C-Index 95%-CI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 +/- 2h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E9E9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 Predictor (floor)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6.51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9.28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E9E9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0.500 [0.500, 0.500]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19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TinyML Conv1D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8.38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0.666 [0.656, 0.675]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27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 Forest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0.686 [0.673, 0.696]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55A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 (drain rate)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0.776 [0.767, 0.784]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CA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Exponential fit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0.773 [0.764, 0.781]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98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Google API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0.777 [0.767, 0.785]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457200" y="4160520"/>
            <a:ext cx="8229600" cy="548640"/>
          </a:xfrm>
          <a:prstGeom prst="rect">
            <a:avLst/>
          </a:prstGeom>
          <a:solidFill>
            <a:srgbClr val="EDF7EE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4187952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Beide ML-Modelle schlagen Mean-Predictor signifikant. Linear, Exp und Google bilden eine gemeinsame Spitzengruppe bei C ~ 0.77.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Schuerger - TinyML fuer Akkulaufzeit-Vorhersage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15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Ergebnis 2: Statistische Signifikanz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Paarweise Permutationstests auf C-Index (Common Subset n=2.827)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8229600" cy="292608"/>
          </a:xfrm>
          <a:prstGeom prst="rect">
            <a:avLst/>
          </a:prstGeom>
          <a:solidFill>
            <a:srgbClr val="F0F4F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298448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&lt; 0,05 = Unterschied ist nicht durch Zufall erklaerbar (signifikant). n.s. = nicht signifikant, beide Methoden statistisch ununterscheidbar.</a:t>
            </a:r>
            <a:endParaRPr lang="en-US" sz="1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45920"/>
          <a:ext cx="8229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731520"/>
                <a:gridCol w="731520"/>
                <a:gridCol w="914400"/>
                <a:gridCol w="731520"/>
                <a:gridCol w="2743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Vergleich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C(A)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C(B)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Delta 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Befund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TinyML vs. Mean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+0.166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** signifikant ueber Floor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 vs. Mean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+0.186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** signifikant ueber Floor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 vs. Exponential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+0.003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n.s.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 vs. Google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-0.001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E94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i="1" dirty="0">
                          <a:solidFill>
                            <a:srgbClr val="E94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n.s. - ueberraschend!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TinyML vs. Google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-0.111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** Google klar besser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457200" y="3520440"/>
            <a:ext cx="8229600" cy="1188720"/>
          </a:xfrm>
          <a:prstGeom prst="rect">
            <a:avLst/>
          </a:prstGeom>
          <a:solidFill>
            <a:srgbClr val="FFF5F5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356616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Ueberraschender Befund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640080" y="3840480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Linear-Drain-Rate-Baseline ist statistisch nicht von Google-API unterscheidbar (p=0.83 fuer C, p=0.55 fuer MAE).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Beide ML-Modelle (TinyML, RF) signifikant ueber Mean, aber unter der Spitzengruppe.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Implikation: 'einfach BatteryManager-Counter lesen' ist auf Aggregat-Ebene konkurrenzfaehig mit dem System-ML-Estimator.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Schuerger - TinyML fuer Akkulaufzeit-Vorhersage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15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Ergebnis 3: Per-Device (Hardware-Effekt)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Derselbe TinyML-Conv1D, evaluiert pro Geraet - der praktisch relevanteste Befund</a:t>
            </a:r>
            <a:endParaRPr lang="en-US" sz="1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371600"/>
          <a:ext cx="530352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5943600" y="141732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Beobachtungen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943600" y="1737360"/>
            <a:ext cx="27432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TinyML: 0.79 (Pixel 7 Pro) bis 0.59 (Xiaomi)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Analytische Baselines stabiler ueber Geraete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Pixel 9 Pro XL: Linear (0.73) &gt; Google (0.68)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Pixel 8 Pro: nur n=98 (breite CIs)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943600" y="3520440"/>
            <a:ext cx="2743200" cy="1051560"/>
          </a:xfrm>
          <a:prstGeom prst="rect">
            <a:avLst/>
          </a:prstGeom>
          <a:solidFill>
            <a:srgbClr val="FFF6E5"/>
          </a:solidFill>
          <a:ln w="12700">
            <a:solidFill>
              <a:srgbClr val="FF980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035040" y="358444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Confounder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035040" y="384048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Xiaomi-Daten: Akku 88.8% der Zeit ueber 75% (mean 94%). Wenig Discharge-Dynamik zum Lernen. Sensor-Qualitaet UND Datenverteilung gemischt.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Schuerger - TinyML fuer Akkulaufzeit-Vorhersage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15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Ergebnis 4: Effizienz (TFLite funktioniert)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1874520" cy="12801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51560"/>
            <a:ext cx="1874520" cy="73152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1874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19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14.4</a:t>
            </a:r>
            <a:pPr algn="ctr" indent="0" marL="0">
              <a:buNone/>
            </a:pPr>
            <a:r>
              <a:rPr lang="en-US" sz="1600" dirty="0">
                <a:solidFill>
                  <a:srgbClr val="219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KB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02920" y="182880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INT8 Modell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560320" y="1051560"/>
            <a:ext cx="1874520" cy="12801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560320" y="1051560"/>
            <a:ext cx="1874520" cy="73152"/>
          </a:xfrm>
          <a:prstGeom prst="rect">
            <a:avLst/>
          </a:prstGeom>
          <a:solidFill>
            <a:srgbClr val="4CAF50"/>
          </a:solidFill>
          <a:ln/>
        </p:spPr>
      </p:sp>
      <p:sp>
        <p:nvSpPr>
          <p:cNvPr id="9" name="Text 7"/>
          <p:cNvSpPr/>
          <p:nvPr/>
        </p:nvSpPr>
        <p:spPr>
          <a:xfrm>
            <a:off x="2560320" y="1188720"/>
            <a:ext cx="1874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4.5</a:t>
            </a:r>
            <a:pPr algn="ctr" indent="0" marL="0">
              <a:buNone/>
            </a:pPr>
            <a:r>
              <a:rPr lang="en-US" sz="1600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us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2606040" y="182880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Inferenz-Latenz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63440" y="1051560"/>
            <a:ext cx="1874520" cy="12801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663440" y="1051560"/>
            <a:ext cx="1874520" cy="73152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3" name="Text 11"/>
          <p:cNvSpPr/>
          <p:nvPr/>
        </p:nvSpPr>
        <p:spPr>
          <a:xfrm>
            <a:off x="4663440" y="1188720"/>
            <a:ext cx="1874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7.6x</a:t>
            </a:r>
            <a:pPr algn="ctr" indent="0" marL="0">
              <a:buNone/>
            </a:pPr>
            <a:r>
              <a:rPr lang="en-US" sz="1600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4709160" y="182880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kleiner als Keras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766560" y="1051560"/>
            <a:ext cx="1874520" cy="12801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766560" y="1051560"/>
            <a:ext cx="1874520" cy="73152"/>
          </a:xfrm>
          <a:prstGeom prst="rect">
            <a:avLst/>
          </a:prstGeom>
          <a:solidFill>
            <a:srgbClr val="9C27B0"/>
          </a:solidFill>
          <a:ln/>
        </p:spPr>
      </p:sp>
      <p:sp>
        <p:nvSpPr>
          <p:cNvPr id="17" name="Text 15"/>
          <p:cNvSpPr/>
          <p:nvPr/>
        </p:nvSpPr>
        <p:spPr>
          <a:xfrm>
            <a:off x="6766560" y="1188720"/>
            <a:ext cx="1874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C2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10.000x</a:t>
            </a:r>
            <a:pPr algn="ctr" indent="0" marL="0">
              <a:buNone/>
            </a:pPr>
            <a:r>
              <a:rPr lang="en-US" sz="1600" dirty="0">
                <a:solidFill>
                  <a:srgbClr val="9C2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6812280" y="182880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schneller als Keras Float32</a:t>
            </a:r>
            <a:endParaRPr lang="en-US" sz="11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606040"/>
          <a:ext cx="50292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371600"/>
                <a:gridCol w="13716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Variante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Groesse (KB)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Avg Latenz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Keras Float32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109.18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47.1 ms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TFLite dynamic-range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15.99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 us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TFLite float16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17.80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 us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19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TFLite INT8 (Deploy)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14.35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 us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5760720" y="2606040"/>
            <a:ext cx="2926080" cy="1828800"/>
          </a:xfrm>
          <a:prstGeom prst="rect">
            <a:avLst/>
          </a:prstGeom>
          <a:solidFill>
            <a:srgbClr val="EDF7EE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897880" y="26974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Take-away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5897880" y="3017520"/>
            <a:ext cx="2743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TinyML-Quantisierungs-Pipeline funktioniert wie beworben. Auf der Effizienz-Achse hat TinyML keinen Wettbewerbsnachteil - der Engpass liegt allein auf der Accuracy-Achse.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Schuerger - TinyML fuer Akkulaufzeit-Vorhersage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15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Diskussion: Zwei Schluessel-Befunde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3931920" cy="3474720"/>
          </a:xfrm>
          <a:prstGeom prst="rect">
            <a:avLst/>
          </a:prstGeom>
          <a:solidFill>
            <a:srgbClr val="F8FAFC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51560"/>
            <a:ext cx="73152" cy="3474720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1430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Befund 1: TinyML lernt Signal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85800" y="15087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Multi-Device-Datensatz macht den Unterschied: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85800" y="1828800"/>
            <a:ext cx="36576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Device: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TinyML C=0.50 = Mean-Predictor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RF C=0.51, beide nicht ueber Floor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Multi-Device (jetzt): </a:t>
            </a:r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TinyML C=0.67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RF C=0.69, beide signifikant &gt; Floor (p&lt;=0.005)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85800" y="4114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Aber: ML bleibt hinter analytischen Baselines + Google (C ~ 0.77).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754880" y="1051560"/>
            <a:ext cx="3931920" cy="3474720"/>
          </a:xfrm>
          <a:prstGeom prst="rect">
            <a:avLst/>
          </a:prstGeom>
          <a:solidFill>
            <a:srgbClr val="F8FAFC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754880" y="1051560"/>
            <a:ext cx="73152" cy="3474720"/>
          </a:xfrm>
          <a:prstGeom prst="rect">
            <a:avLst/>
          </a:prstGeom>
          <a:solidFill>
            <a:srgbClr val="E94560"/>
          </a:solidFill>
          <a:ln/>
        </p:spPr>
      </p:sp>
      <p:sp>
        <p:nvSpPr>
          <p:cNvPr id="11" name="Text 9"/>
          <p:cNvSpPr/>
          <p:nvPr/>
        </p:nvSpPr>
        <p:spPr>
          <a:xfrm>
            <a:off x="4983480" y="11430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Befund 2: Google = Linear-Baseline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983480" y="15087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Statistisch ununterscheidbar (p=0.83):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983480" y="1828800"/>
            <a:ext cx="36576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(battery / drain_rate)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MAE 3.21 h, C-Index 0.776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API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(privilegierter Systemzugang)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MAE 3.24 h, C-Index 0.777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983480" y="4114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Hardware-Zugang traegt nichts Messbares fuer 'Stunden bis 0%' bei.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Schuerger - TinyML fuer Akkulaufzeit-Vorhersage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15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 (ehrlich)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8229600" cy="96012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188720"/>
            <a:ext cx="73152" cy="96012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29844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Right-censored Daten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85800" y="16459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Akku wird im Alltag nie auf 0% entladen. Strukturelle Eigenschaft der Domaene - gleiche Beobachtung bei Li et al. (2018) mit 51 Nutzern. Deshalb C-Index als Primaer-Metrik statt MAE.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2331720"/>
            <a:ext cx="8229600" cy="96012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2331720"/>
            <a:ext cx="73152" cy="96012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244144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Multi-Device, aber nicht Cross-Device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85800" y="27889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sieht alle vier Geraete. Eine Leave-One-Device-Out-Studie - also Test auf einem komplett ungesehenen Geraet - ist offene Folgearbeit.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3474720"/>
            <a:ext cx="8229600" cy="96012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3474720"/>
            <a:ext cx="73152" cy="96012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358444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TinyML auf Pixel 9 Pro XL anomal schlecht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85800" y="39319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TinyML C=0.60 waehrend RF auf demselben Geraet C=0.76 erreicht. Keine kausale Erklaerung im aktuellen Datensatz - offen fuer Folgearbeiten.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Schuerger - TinyML fuer Akkulaufzeit-Vorhersage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15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Conclusion: Antwort auf die Forschungsfrage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2697480" cy="2560320"/>
          </a:xfrm>
          <a:prstGeom prst="rect">
            <a:avLst/>
          </a:prstGeom>
          <a:solidFill>
            <a:srgbClr val="FFFFFF">
              <a:alpha val="8000"/>
            </a:srgbClr>
          </a:solidFill>
          <a:ln w="25400">
            <a:solidFill>
              <a:srgbClr val="2196F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150876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19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Genauigkeit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594360" y="1920240"/>
            <a:ext cx="24231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TinyML schlaegt Mean (C 0.67), bleibt aber hinter Linear/Exp/Google (C ~ 0.77). Google nicht signifikant besser als Linear.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291840" y="1371600"/>
            <a:ext cx="2697480" cy="2560320"/>
          </a:xfrm>
          <a:prstGeom prst="rect">
            <a:avLst/>
          </a:prstGeom>
          <a:solidFill>
            <a:srgbClr val="FFFFFF">
              <a:alpha val="8000"/>
            </a:srgbClr>
          </a:solidFill>
          <a:ln w="25400">
            <a:solidFill>
              <a:srgbClr val="4CAF5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429000" y="150876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Effizienz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429000" y="1920240"/>
            <a:ext cx="24231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TFLite-Quantisierung funktioniert. 14.4 KB, 4.5 us. Auf dieser Achse hat TinyML uneingeschraenkt seinen Wert.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126480" y="1371600"/>
            <a:ext cx="2697480" cy="2560320"/>
          </a:xfrm>
          <a:prstGeom prst="rect">
            <a:avLst/>
          </a:prstGeom>
          <a:solidFill>
            <a:srgbClr val="FFFFFF">
              <a:alpha val="8000"/>
            </a:srgbClr>
          </a:solidFill>
          <a:ln w="25400">
            <a:solidFill>
              <a:srgbClr val="FF98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63640" y="150876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 &amp; Daten-Coverage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263640" y="1920240"/>
            <a:ext cx="24231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TinyML 0.79 auf Pixel 7 Pro, 0.59 auf Xiaomi. Engpass: Sensor-Qualitaet UND Discharge-Dynamik-Coverage (Xiaomi-Akku 88.8% der Zeit voll). Nicht die Modellarchitektur.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41605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Methodischer Beitrag: Segment-Level-Split als Standard fuer Sliding-Window-Time-Series in Mobile-Sensing.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B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Schuerger - TinyML fuer Akkulaufzeit-Vorhersage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B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15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46304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Vielen Dank</a:t>
            </a:r>
            <a:endParaRPr lang="en-US" sz="5400" dirty="0"/>
          </a:p>
        </p:txBody>
      </p:sp>
      <p:sp>
        <p:nvSpPr>
          <p:cNvPr id="3" name="Shape 1"/>
          <p:cNvSpPr/>
          <p:nvPr/>
        </p:nvSpPr>
        <p:spPr>
          <a:xfrm>
            <a:off x="3931920" y="2331720"/>
            <a:ext cx="1280160" cy="54864"/>
          </a:xfrm>
          <a:prstGeom prst="rect">
            <a:avLst/>
          </a:prstGeom>
          <a:solidFill>
            <a:srgbClr val="E94560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26060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Fragen?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379476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Keno Schuerger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9CB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TinyML fuer Akkulaufzeit-Vorhersage auf Android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B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Schuerger - TinyML fuer Akkulaufzeit-Vorhersage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B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TinyML fuer Akkulaufzeit-Vorhersage auf Android - Verteidigung</dc:title>
  <dc:subject>PptxGenJS Presentation</dc:subject>
  <dc:creator>Keno Schuerger</dc:creator>
  <cp:lastModifiedBy>Keno Schuerger</cp:lastModifiedBy>
  <cp:revision>1</cp:revision>
  <dcterms:created xsi:type="dcterms:W3CDTF">2026-06-05T13:33:51Z</dcterms:created>
  <dcterms:modified xsi:type="dcterms:W3CDTF">2026-06-05T13:33:51Z</dcterms:modified>
</cp:coreProperties>
</file>
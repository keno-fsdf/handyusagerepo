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346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3460"/>
                </a:solidFill>
                <a:latin typeface="Arial"/>
              </a:rPr>
              <a:t>C-Index nach Gerät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TinyML</c:v>
                </c:pt>
              </c:strCache>
            </c:strRef>
          </c:tx>
          <c:spPr>
            <a:solidFill>
              <a:srgbClr val="2196F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0.754</c:v>
                </c:pt>
                <c:pt idx="1">
                  <c:v>0.742</c:v>
                </c:pt>
                <c:pt idx="2">
                  <c:v>0.571</c:v>
                </c:pt>
                <c:pt idx="3">
                  <c:v>0.593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Random Forest</c:v>
                </c:pt>
              </c:strCache>
            </c:strRef>
          </c:tx>
          <c:spPr>
            <a:solidFill>
              <a:srgbClr val="9C27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0.807</c:v>
                </c:pt>
                <c:pt idx="1">
                  <c:v>0.815</c:v>
                </c:pt>
                <c:pt idx="2">
                  <c:v>0.767</c:v>
                </c:pt>
                <c:pt idx="3">
                  <c:v>0.628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rgbClr val="455A6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0.792</c:v>
                </c:pt>
                <c:pt idx="1">
                  <c:v>0.696</c:v>
                </c:pt>
                <c:pt idx="2">
                  <c:v>0.73</c:v>
                </c:pt>
                <c:pt idx="3">
                  <c:v>0.724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API</c:v>
                </c:pt>
              </c:strCache>
            </c:strRef>
          </c:tx>
          <c:spPr>
            <a:solidFill>
              <a:srgbClr val="FF9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Pixel 7 Pro</c:v>
                  </c:pt>
                  <c:pt idx="1">
                    <c:v>Pixel 8 Pro</c:v>
                  </c:pt>
                  <c:pt idx="2">
                    <c:v>Pixel 9 Pro XL</c:v>
                  </c:pt>
                  <c:pt idx="3">
                    <c:v>Xiaomi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0.853</c:v>
                </c:pt>
                <c:pt idx="1">
                  <c:v>0.921</c:v>
                </c:pt>
                <c:pt idx="2">
                  <c:v>0.677</c:v>
                </c:pt>
                <c:pt idx="3">
                  <c:v>0.473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4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App-Level TinyML für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Akkulaufzeit-Vorhersage auf Android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7889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9260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Multi-Device-Vergleich von sechs Methoden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Matrikelnr.: 5023033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Technische Hochschule Würzburg-Schweinfurt (THWS)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Vertiefungsseminar - Sommersemester 2026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Akkuvorhersage auf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Klassisch: Settings-App rechnet linear hoch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Ignoriert aktuelle Nutzung, App-Kontext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754880" y="10515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sich seit Android 12 (2021) ändert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PowerManager.getBatteryDischargePrediction()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Erstes ML-Modell direkt im Android-System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Läuft im Systemprozess - privilegierter Zugriff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45643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Worum es im Kern geht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3703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gut schneidet ein TinyML-Modell auf öffentlich verfügbaren Sensoren gegenüber etablierten Vorhersage-Methoden ab?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Forschungsfrage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73152" cy="182880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18872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"Wie gut kann TinyML die Akkulaufzeit auf Android vorhersagen im Vergleich zu exponentiellem Fitting und der nativen Google-API, bezogen auf Genauigkeit sowie Effizienz?"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3383280"/>
            <a:ext cx="237744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andere Methoden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83280" y="3383280"/>
            <a:ext cx="237744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1" name="Text 9"/>
          <p:cNvSpPr/>
          <p:nvPr/>
        </p:nvSpPr>
        <p:spPr>
          <a:xfrm>
            <a:off x="347472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(C-Index, MAE)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309360" y="3383280"/>
            <a:ext cx="2377440" cy="1188720"/>
          </a:xfrm>
          <a:prstGeom prst="rect">
            <a:avLst/>
          </a:prstGeom>
          <a:solidFill>
            <a:srgbClr val="F5F7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09360" y="3383280"/>
            <a:ext cx="237744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34930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Achse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0" y="3794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(Latenz, Modellgröße)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Verwandte Arbeiten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16916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et al. (2018)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Battery Prediction at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Nutzer, 21 Monate. Führt den Concordance-Index als Standard-Metrik ein, weil das 'severe data missing problem' (User entladen selten auf 0%) MAE unzuverlässig macht.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051560"/>
            <a:ext cx="73152" cy="1691640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Flores-Martin et al. (2024)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143560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auf Android, DNN vs. LSTM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46320" y="17373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Direkter Methodik-Verwandter. LSTM auf user-spezifischen App-, Sensor-, Screen-Time-Features.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926080"/>
            <a:ext cx="73152" cy="169164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Banbury et al. (2021) - MLPerf Tiny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Industriestandard-Benchmark für TinyML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Misst Accuracy, Latency, Energy gemeinsam. Smartphone-Anwendungen fehlen in der Literatur (siehe Heydari &amp; Mahmoud 2025, Alajlan &amp; Ibrahim 2022).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2926080"/>
            <a:ext cx="4023360" cy="16916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2926080"/>
            <a:ext cx="73152" cy="169164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3017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Albelali &amp; Ahmed (2025)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3101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Leaks in Time Series Forecasting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0" y="36118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Random-Shuffle-Splits über Sliding-Window-Sequenzen lecken Future-Information. RMSE Gain bis 20.5% bei 10-fold CV (LSTM).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Datensammlung: 4 Geräte, 45 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66.001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Messungen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7" name="Text 5"/>
          <p:cNvSpPr/>
          <p:nvPr/>
        </p:nvSpPr>
        <p:spPr>
          <a:xfrm>
            <a:off x="256032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256032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Geräte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Tage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Zeitraum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051560"/>
            <a:ext cx="1874520" cy="100584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1097280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766560" y="1627632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31720"/>
          <a:ext cx="5943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109728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Gerät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Messungen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Tage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Xiaomi 2107113SG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38.087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7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9 Pro XL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Pixel 8 Pro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675120" y="2331720"/>
            <a:ext cx="2011680" cy="22402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423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Features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766560" y="2715768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battery_level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screen_on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brightness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active_app_category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wifi_on / mobile_data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charging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cpu_usage (proxy)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hotspot_on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Sechs Methoden im Vergleich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Conv1D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Eigenes Modell, 5.697 Param., 14 KB INT8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Hauptmodell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1097280"/>
            <a:ext cx="265176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0" name="Text 8"/>
          <p:cNvSpPr/>
          <p:nvPr/>
        </p:nvSpPr>
        <p:spPr>
          <a:xfrm>
            <a:off x="338328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Trees auf gleichen Features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(anderes Paradigma)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097280"/>
            <a:ext cx="2651760" cy="73152"/>
          </a:xfrm>
          <a:prstGeom prst="rect">
            <a:avLst/>
          </a:prstGeom>
          <a:solidFill>
            <a:srgbClr val="9E9E9E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9E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Predictor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1554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Konstante = Trainings-Mittelwert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21762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(kein Feature-Lernen)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788920"/>
            <a:ext cx="2651760" cy="73152"/>
          </a:xfrm>
          <a:prstGeom prst="rect">
            <a:avLst/>
          </a:prstGeom>
          <a:solidFill>
            <a:srgbClr val="455A64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/ drain_rate (BatteryManager)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46120" y="2788920"/>
            <a:ext cx="265176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Fit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8328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b(t) = a + c*exp(-k*t) per Segment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35040" y="2788920"/>
            <a:ext cx="26517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8100000">
              <a:srgbClr val="000000">
                <a:alpha val="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35040" y="2788920"/>
            <a:ext cx="265176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172200" y="32461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getBatteryDischargePrediction() (Android 12+)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Methodik-Kernpunkt: Segment-Level-Split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Bei zufälliger Aufteilung sieht das Modell unbemerkt Daten aus der Zukunft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920240"/>
                <a:gridCol w="1920240"/>
                <a:gridCol w="8229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Sequenzen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Random-Split (leaky)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Segment-Level (clean)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Device (Xiaomi)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6.53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11.06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~1.69x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Multi-Device (4 Geräte)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4.97 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~1.24x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2606040"/>
            <a:ext cx="8229600" cy="2011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26974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das bedeutet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306324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zufälliger Aufteilung 'sieht' das Modell unbemerkt zukünftige Daten — der Test-MAE wirkt dadurch um Faktor ~1,7 besser (Single-Device: 6,5 statt 11,1 h).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4 Geräten (Multi-Device) schrumpft die Verzerrung auf 1,24x — die Datenvielfalt schwächt das Lecken ab. Vergleichbar mit Albelali &amp; Ahmed (2025).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1: Common Subset (n=2.883)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 gegen extrapolierte echte Restzeit · Klammerwerte = 95%-Konfidenzintervall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C-Index: Anteil korrekt geordneter Vorhersage-Paare. 0,5 = Münzwurf, 1,0 = perfekt. MAE: durchschnittliche Abweichung in Stunden.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23774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 (h)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C-Index 95%-CI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+/- 2h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Predictor (floor)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E9E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 [0.500, 0.500]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Conv1D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 [0.647, 0.664]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27B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 [0.673, 0.695]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55A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(drain rate)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 [0.761, 0.780]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AF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Exponential 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 [0.758, 0.776]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9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API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 [0.751, 0.772]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418795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schlagen Mean-Predictor signifikant. Linear, Exp und Google bilden eine gemeinsame Spitzengruppe bei C ~ 0.77.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2: Statistische Signifikanz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Paarweise Tests auf C-Index (paired Bootstrap, BH-korrigiert; Common Subset n=2.883)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292608"/>
          </a:xfrm>
          <a:prstGeom prst="rect">
            <a:avLst/>
          </a:prstGeom>
          <a:solidFill>
            <a:srgbClr val="F0F4F8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9844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621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&lt; 0,05 = signifikant (Unterschied nicht durch Zufall erklärbar). n.s. = nicht signifikant (beide Methoden statistisch ununterscheidbar).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731520"/>
                <a:gridCol w="731520"/>
                <a:gridCol w="914400"/>
                <a:gridCol w="7315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Vergleich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Delta 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 vs. Mean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signifikant über Floor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Exponential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i="1" dirty="0">
                          <a:solidFill>
                            <a:srgbClr val="E945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n.s. - überraschend!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TinyML vs.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-0.105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 Google klar besser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520440"/>
            <a:ext cx="8229600" cy="1188720"/>
          </a:xfrm>
          <a:prstGeom prst="rect">
            <a:avLst/>
          </a:prstGeom>
          <a:solidFill>
            <a:srgbClr val="FFF5F5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566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Überraschender Befund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Linear-Drain-Rate-Baseline ist statistisch nicht von Google-API unterscheidbar (p=0.11 für C, p=0.16 für MAE) — Linear liegt numerisch sogar minimal vorn.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ML-Modelle (TinyML, RF) signifikant über Mean, aber unter der Spitzengruppe.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Implikation: 'einfach BatteryManager-Counter lesen' ist auf Aggregat-Ebene konkurrenzfähig mit dem System-ML-Estimator.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3: Per-Device (Hardware-Effekt)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Derselbe TinyML-Conv1D, evaluiert pro Gerät - der praktisch relevanteste Befund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7160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94360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Beobachtungen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0" y="1737360"/>
            <a:ext cx="2743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TinyML: 0.75 (Pixel 7 Pro) bis 0.59 (Xiaomi)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Analytische Baselines stabiler über Geräte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9 Pro XL: Linear (0.73) &gt; Google (0.68)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8 Pro: nur n=98 (breite CIs)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3520440"/>
            <a:ext cx="2743200" cy="1051560"/>
          </a:xfrm>
          <a:prstGeom prst="rect">
            <a:avLst/>
          </a:prstGeom>
          <a:solidFill>
            <a:srgbClr val="FFF6E5"/>
          </a:solidFill>
          <a:ln w="12700">
            <a:solidFill>
              <a:srgbClr val="FF98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35040" y="358444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 Achtung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35040" y="384048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 dem Xiaomi war der Akku meist voll (88,8 % der Zeit über 75 %). Damit fehlt dem Modell Entlade-Verlauf zum Lernen — der schwache Xiaomi-Wert kann genauso gut an mangelnder Datenvielfalt liegen wie an der Hardware.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4: Effizienz (TFLite funktioniert)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1874520" cy="73152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</a:t>
            </a:r>
            <a:pPr algn="ctr" indent="0" marL="0">
              <a:buNone/>
            </a:pPr>
            <a:r>
              <a:rPr lang="en-US" sz="1600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KB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INT8 Modell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0" y="1051560"/>
            <a:ext cx="1874520" cy="73152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Inferenz-Latenz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051560"/>
            <a:ext cx="1874520" cy="73152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7.6x</a:t>
            </a:r>
            <a:pPr algn="ctr" indent="0" marL="0">
              <a:buNone/>
            </a:pPr>
            <a:r>
              <a:rPr lang="en-US" sz="16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kleiner als Keras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66560" y="1051560"/>
            <a:ext cx="187452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0" y="1051560"/>
            <a:ext cx="1874520" cy="73152"/>
          </a:xfrm>
          <a:prstGeom prst="rect">
            <a:avLst/>
          </a:prstGeom>
          <a:solidFill>
            <a:srgbClr val="9C27B0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118872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~12.000x</a:t>
            </a:r>
            <a:pPr algn="ctr" indent="0" marL="0">
              <a:buNone/>
            </a:pPr>
            <a:r>
              <a:rPr lang="en-US" sz="1600" dirty="0">
                <a:solidFill>
                  <a:srgbClr val="9C27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Keras Float32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06040"/>
          <a:ext cx="5029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Größe (KB)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46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Keras Float32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dynamic-range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float16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196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TFLite INT8 (Deploy)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5760720" y="2606040"/>
            <a:ext cx="2926080" cy="1828800"/>
          </a:xfrm>
          <a:prstGeom prst="rect">
            <a:avLst/>
          </a:prstGeom>
          <a:solidFill>
            <a:srgbClr val="EDF7EE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97880" y="2697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Take-away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897880" y="30175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TinyML-Quantisierungs-Pipeline funktioniert wie beworben. Effizienz ist die klare Stärke von TinyML.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Diskussion: Zwei Schlüssel-Befunde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51560"/>
            <a:ext cx="73152" cy="3474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1: TinyML lernt Signal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vorhanden — aber target-abhängig: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Trainings-Target (y_extrap):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C=0.66, RF C=0.69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beide signifikant über Floor (p &lt; 0.001)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gemessene Restzeit (y_real):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signifikanter Vorsprung mehr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TinyML p=0.82; RF sogar unter Floor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ML bleibt hinter analytischen Baselines + Google (C ~ 0.77).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051560"/>
            <a:ext cx="3931920" cy="3474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051560"/>
            <a:ext cx="73152" cy="3474720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11" name="Text 9"/>
          <p:cNvSpPr/>
          <p:nvPr/>
        </p:nvSpPr>
        <p:spPr>
          <a:xfrm>
            <a:off x="4983480" y="1143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4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Befund 2: Google = Linear-Baseline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983480" y="15087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Statistisch ununterscheidbar (p=0.11):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18288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455A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(battery / drain_rate)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3.30 h, C-Index 0.770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API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(privilegierter Systemzugang)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MAE 3.37 h, C-Index 0.762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8348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Hardware-Vorteil zahlt sich erst bei sehr langen Restzeiten aus (&gt;=30 h: C 0.98 vs. 0.64).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(ehrlich)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188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298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selten ganz leer gefahren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Akku wird im Alltag nie auf 0 % entladen — Grundeigenschaft der Daten, gleiche Beobachtung bei Li et al. (2018) mit 51 Nutzern. Deshalb C-Index als Hauptmaß statt MAE.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331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2441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Multi-Device, aber nicht Cross-Device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" y="2788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sieht alle vier Geräte. Wie das Modell auf einem komplett neuen Gerät funktionieren würde, ist offene Folgearbeit.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74720"/>
            <a:ext cx="822960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474720"/>
            <a:ext cx="73152" cy="960120"/>
          </a:xfrm>
          <a:prstGeom prst="rect">
            <a:avLst/>
          </a:prstGeom>
          <a:solidFill>
            <a:srgbClr val="0F3460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35844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4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auf Pixel 9 Pro XL überraschend schlecht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schafft dort nur C-Index 0,57, während Random Forest auf denselben Daten 0,77 erreicht. Warum genau, ist mit den aktuellen Daten nicht erklärbar — offen für Folgearbeiten.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Antwort auf die Forschungsfrage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2196F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96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Genauigkeit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9436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schlägt Mean (C 0.66), bleibt aber hinter Linear/Exp/Google (C ~ 0.77). Google nicht signifikant besser als Linear.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Effizienz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42900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TFLite-Quantisierung funktioniert. 14.4 KB, 3.3 us. Auf dieser Achse hat TinyML uneingeschränkt seinen Wert.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697480" cy="2560320"/>
          </a:xfrm>
          <a:prstGeom prst="rect">
            <a:avLst/>
          </a:prstGeom>
          <a:solidFill>
            <a:srgbClr val="FFFFFF">
              <a:alpha val="8000"/>
            </a:srgbClr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150876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&amp; Datenvielfalt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263640" y="1920240"/>
            <a:ext cx="2423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0,75 auf Pixel 7 Pro, 0,59 auf Xiaomi. Engpass nicht am Modell, sondern an Sensor-Qualität und fehlendem Entlade-Verlauf (Xiaomi-Akku 88,8 % der Zeit voll).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Shape 1"/>
          <p:cNvSpPr/>
          <p:nvPr/>
        </p:nvSpPr>
        <p:spPr>
          <a:xfrm>
            <a:off x="3931920" y="2331720"/>
            <a:ext cx="1280160" cy="54864"/>
          </a:xfrm>
          <a:prstGeom prst="rect">
            <a:avLst/>
          </a:prstGeom>
          <a:solidFill>
            <a:srgbClr val="E9456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6060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Fragen?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Keno Schürger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TinyML für Akkulaufzeit-Vorhersage auf Android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484632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K. Schürger - TinyML für Akkulaufzeit-Vorhersage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463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B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TinyML für Akkulaufzeit-Vorhersage auf Android - Verteidigung</dc:title>
  <dc:subject>PptxGenJS Presentation</dc:subject>
  <dc:creator>Keno Schürger</dc:creator>
  <cp:lastModifiedBy>Keno Schürger</cp:lastModifiedBy>
  <cp:revision>1</cp:revision>
  <dcterms:created xsi:type="dcterms:W3CDTF">2026-06-10T07:40:42Z</dcterms:created>
  <dcterms:modified xsi:type="dcterms:W3CDTF">2026-06-10T07:40:42Z</dcterms:modified>
</cp:coreProperties>
</file>
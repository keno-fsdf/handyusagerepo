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346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3460"/>
                </a:solidFill>
                <a:latin typeface="Arial"/>
              </a:rPr>
              <a:t>C-Index nach Gerät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TinyML</c:v>
                </c:pt>
              </c:strCache>
            </c:strRef>
          </c:tx>
          <c:spPr>
            <a:solidFill>
              <a:srgbClr val="2196F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Pixel 7 Pro</c:v>
                  </c:pt>
                  <c:pt idx="1">
                    <c:v>Pixel 8 Pro</c:v>
                  </c:pt>
                  <c:pt idx="2">
                    <c:v>Pixel 9 Pro XL</c:v>
                  </c:pt>
                  <c:pt idx="3">
                    <c:v>Xiaomi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0.754</c:v>
                </c:pt>
                <c:pt idx="1">
                  <c:v>0.742</c:v>
                </c:pt>
                <c:pt idx="2">
                  <c:v>0.571</c:v>
                </c:pt>
                <c:pt idx="3">
                  <c:v>0.593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9C27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Pixel 7 Pro</c:v>
                  </c:pt>
                  <c:pt idx="1">
                    <c:v>Pixel 8 Pro</c:v>
                  </c:pt>
                  <c:pt idx="2">
                    <c:v>Pixel 9 Pro XL</c:v>
                  </c:pt>
                  <c:pt idx="3">
                    <c:v>Xiaomi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0.807</c:v>
                </c:pt>
                <c:pt idx="1">
                  <c:v>0.815</c:v>
                </c:pt>
                <c:pt idx="2">
                  <c:v>0.767</c:v>
                </c:pt>
                <c:pt idx="3">
                  <c:v>0.628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Linear</c:v>
                </c:pt>
              </c:strCache>
            </c:strRef>
          </c:tx>
          <c:spPr>
            <a:solidFill>
              <a:srgbClr val="455A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Pixel 7 Pro</c:v>
                  </c:pt>
                  <c:pt idx="1">
                    <c:v>Pixel 8 Pro</c:v>
                  </c:pt>
                  <c:pt idx="2">
                    <c:v>Pixel 9 Pro XL</c:v>
                  </c:pt>
                  <c:pt idx="3">
                    <c:v>Xiaomi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0.792</c:v>
                </c:pt>
                <c:pt idx="1">
                  <c:v>0.696</c:v>
                </c:pt>
                <c:pt idx="2">
                  <c:v>0.73</c:v>
                </c:pt>
                <c:pt idx="3">
                  <c:v>0.724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Google API</c:v>
                </c:pt>
              </c:strCache>
            </c:strRef>
          </c:tx>
          <c:spPr>
            <a:solidFill>
              <a:srgbClr val="FF98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Pixel 7 Pro</c:v>
                  </c:pt>
                  <c:pt idx="1">
                    <c:v>Pixel 8 Pro</c:v>
                  </c:pt>
                  <c:pt idx="2">
                    <c:v>Pixel 9 Pro XL</c:v>
                  </c:pt>
                  <c:pt idx="3">
                    <c:v>Xiaomi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0.853</c:v>
                </c:pt>
                <c:pt idx="1">
                  <c:v>0.921</c:v>
                </c:pt>
                <c:pt idx="2">
                  <c:v>0.677</c:v>
                </c:pt>
                <c:pt idx="3">
                  <c:v>0.473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App-Level TinyML für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Akkulaufzeit-Vorhersage auf Android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128016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926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Multi-Device-Vergleich von sechs Methoden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Schürger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Matrikelnr.: 5023033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Hochschule Würzburg-Schweinfurt (THWS)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Vertiefungsseminar - Sommersemester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Akkuvorhersage auf Android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Klassisch: Settings-App rechnet linear hoch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Ignoriert aktuelle Nutzung, App-Kontext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sich seit Android 12 (2021) ändert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PowerManager.getBatteryDischargePrediction()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Erstes ML-Modell direkt im Android-System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Läuft im Systemprozess - privilegierter Zugriff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FF6E5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564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Worum es im Kern geht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gut schneidet ein TinyML-Modell auf öffentlich verfügbaren Sensoren gegenüber etablierten Vorhersage-Methoden ab?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Forschungsfrage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73152" cy="1828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8872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"Wie gut kann TinyML die Akkulaufzeit auf Android vorhersagen im Vergleich zu exponentiellem Fitting und der nativen Google-API, bezogen auf Genauigkeit sowie Effizienz?"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237744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383280"/>
            <a:ext cx="237744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andere Methoden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3383280"/>
            <a:ext cx="237744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3383280"/>
            <a:ext cx="237744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Achse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(C-Index, MAE)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3383280"/>
            <a:ext cx="2377440" cy="1188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383280"/>
            <a:ext cx="2377440" cy="7315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794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(Latenz, Modellgröße)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Verwandte Arbeiten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91440" cy="22860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16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(2018)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Battery Prediction at Scale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1938528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Nutzer, 21 Monate. Führt den Concordance-Index als Standard-Metrik ein, weil das 'severe data missing problem' (Nutzer entladen fast nie auf 0%) MAE unzuverlässig macht. Der C-Index stammt urspruenglich aus der Medizin.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91440" cy="2286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216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Albelali &amp; Ahmed (2025)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Leaks in Time Series Forecasting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92040" y="1938528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Zufaelliges Mischen von Sliding-Window-Sequenzen leckt Zukunfts-Information ins Training und schoent die Ergebnisse. RMSE Gain bis 20.5% bei 10-fold CV (LSTM).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relevante Arbeiten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146304" cy="14630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319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Flores-Martin et al. (2024):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auf Android, DNN vs. LSTM auf App- und Sensor-Features. Direkter Methodik-Verwandter.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25696"/>
            <a:ext cx="146304" cy="14630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3425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Banbury et al. (2021), MLPerf Tiny: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Industriestandard-Benchmark fuer TinyML (Accuracy, Latency, Energy). Smartphones kaum abgedeckt.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Datensammlung: 4 Geräte, 45 Tage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7452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Messungen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051560"/>
            <a:ext cx="187452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097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60320" y="1627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187452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097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Tage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63440" y="1627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Zeitraum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051560"/>
            <a:ext cx="1874520" cy="10058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1097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66560" y="16276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5943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109728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Gerät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Messungen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Aktive 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Xiaomi 2107113SG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7 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9 Pro XL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Pixel 8 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6675120" y="2331720"/>
            <a:ext cx="20116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766560" y="2715768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battery_level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screen_on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brightness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active_app_category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wifi_on / mobile_data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cpu_usage (proxy)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hotspot_on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Sechs Methoden im Vergleich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Conv1D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Eigenes Modell, 5.697 Param., 14 KB INT8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Hauptmodell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2651760" cy="7315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Trees auf gleichen Features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(anderes Paradigma)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09728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234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Predictor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Konstante = Trainings-Mittelwert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21762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(kein Feature-Lernen)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889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788920"/>
            <a:ext cx="2651760" cy="73152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3246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/ drain_rate (BatteryManager)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867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Analytische Baseline 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27889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788920"/>
            <a:ext cx="265176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Fit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83280" y="3246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b(t) = a + c*exp(-k*t) per Segment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867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Analytische Baseline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27889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2788920"/>
            <a:ext cx="2651760" cy="7315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72200" y="3246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getBatteryDischargePrediction() (Android 12+)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3867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Methodik-Kernpunkt: Segment-Level-Split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Bei zufälliger Aufteilung sieht das Modell unbemerkt Daten aus der Zukunft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920240"/>
                <a:gridCol w="192024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Sequenzen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Random-Split (leaky)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Segment-Level (clean)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Device (Xiaomi)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6.53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11.06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~1.69x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Multi-Device (4 Geräte)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4.97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~1.24x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606040"/>
            <a:ext cx="82296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2697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das bedeutet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30632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zufälliger Aufteilung 'sieht' das Modell unbemerkt zukünftige Daten — der Test-MAE wirkt dadurch um Faktor ~1,7 besser (Single-Device: 6,5 statt 11,1 h).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4 Geräten (Multi-Device) schrumpft die Verzerrung auf 1,24x — die Datenvielfalt schwächt das Lecken ab. Vergleichbar mit Albelali &amp; Ahmed (2025).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1: Common Subset (n=2.883)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 gegen extrapolierte echte Restzeit · Klammerwerte = 95%-Konfidenzintervall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984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C-Index: Anteil korrekt geordneter Vorhersage-Paare. 0,5 = Münzwurf, 1,0 = perfekt. MAE: durchschnittliche Abweichung in Stunden.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1097280"/>
                <a:gridCol w="237744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C-Index 95%-CI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 +/- 2h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Predictor (floor)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E9E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 [0.500, 0.500]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TinyML Conv1D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 [0.647, 0.664]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C27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 [0.673, 0.695]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5A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(drain rate)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 [0.761, 0.780]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 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 [0.758, 0.776]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9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 [0.751, 0.772]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DF7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1879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ML-Modelle schlagen Mean-Predictor signifikant. Linear, Exp und Google bilden eine gemeinsame Spitzengruppe bei C ~ 0.77.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2: Statistische Signifikanz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Paarweise Tests auf C-Index (paired Bootstrap, BH-korrigiert; Common Subset n=2.883)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292608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984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0,05 = signifikant (Unterschied nicht durch Zufall erklärbar). n.s. = nicht signifikant (beide Methoden statistisch ununterscheidbar).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731520"/>
                <a:gridCol w="914400"/>
                <a:gridCol w="7315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Vergleich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C(B)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TinyML vs. 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 signifikant über Floor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vs. Mean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 signifikant über Floor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vs. Exponential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vs. Google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E94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 - überraschend!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TinyML vs. Google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 Google klar besser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solidFill>
            <a:srgbClr val="FFF5F5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Überraschender Befund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Linear-Drain-Rate-Baseline ist statistisch nicht von Google-API unterscheidbar (p=0.11 für C, p=0.16 für MAE) — Linear liegt numerisch sogar minimal vorn.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ML-Modelle (TinyML, RF) signifikant über Mean, aber unter der Spitzengruppe.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Implikation: 'einfach BatteryManager-Counter lesen' ist auf Aggregat-Ebene konkurrenzfähig mit dem System-ML-Estimator.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3: Per-Device (Hardware-Effekt)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Derselbe TinyML-Conv1D, evaluiert pro Gerät - der praktisch relevanteste Befund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Beobachtungen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0" y="17373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TinyML: 0.75 (Pixel 7 Pro) bis 0.59 (Xiaomi)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Analytische Baselines stabiler über Geräte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9 Pro XL: Linear (0.73) &gt; Google (0.68)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8 Pro: nur n=98 (breite CIs)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0" y="3520440"/>
            <a:ext cx="2743200" cy="1051560"/>
          </a:xfrm>
          <a:prstGeom prst="rect">
            <a:avLst/>
          </a:prstGeom>
          <a:solidFill>
            <a:srgbClr val="FFF6E5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3584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Achtung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0" y="3840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dem Xiaomi war der Akku meist voll (88,8 % der Zeit über 75 %). Damit fehlt dem Modell Entlade-Verlauf zum Lernen — der schwache Xiaomi-Wert kann genauso gut an mangelnder Datenvielfalt liegen wie an der Hardware.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4: Effizienz (TFLite funktioniert)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745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87452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</a:t>
            </a:r>
            <a:pPr algn="ctr" indent="0" marL="0">
              <a:buNone/>
            </a:pPr>
            <a:r>
              <a:rPr lang="en-US" sz="16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Modell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051560"/>
            <a:ext cx="18745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051560"/>
            <a:ext cx="187452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188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pPr algn="ctr"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0604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Inferenz-Latenz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18745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51560"/>
            <a:ext cx="1874520" cy="7315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188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7.6x</a:t>
            </a:r>
            <a:pPr algn="ctr" indent="0" marL="0">
              <a:buNone/>
            </a:pPr>
            <a:r>
              <a:rPr lang="en-US" sz="160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0916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kleiner als Keras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1051560"/>
            <a:ext cx="18745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1051560"/>
            <a:ext cx="1874520" cy="73152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1887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~12.000x</a:t>
            </a:r>
            <a:pPr algn="ctr" indent="0" marL="0">
              <a:buNone/>
            </a:pPr>
            <a:r>
              <a:rPr lang="en-US" sz="1600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812280" y="1828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schneller als Keras Float32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Größe (KB)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Keras Float32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109.19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TFLite dynamic-range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 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TFLite float16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 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TFLite INT8 (Deploy)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 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760720" y="2606040"/>
            <a:ext cx="2926080" cy="1828800"/>
          </a:xfrm>
          <a:prstGeom prst="rect">
            <a:avLst/>
          </a:prstGeom>
          <a:solidFill>
            <a:srgbClr val="EDF7EE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9788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897880" y="3017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TinyML-Quantisierungs-Pipeline funktioniert wie beworben. Effizienz ist die klare Stärke von TinyML.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Diskussion: Zwei Schlüssel-Befunde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73152" cy="3474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Befund 1: TinyML lernt Signal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vorhanden — aber target-abhängig: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Trainings-Target (y_extrap):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C=0.66, RF C=0.69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beide signifikant über Floor (p &lt; 0.001)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gemessene Restzeit (y_real): 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signifikanter Vorsprung mehr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TinyML p=0.82; RF sogar unter Floor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Aber: ML bleibt hinter analytischen Baselines + Google (C ~ 0.77).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31920" cy="3474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51560"/>
            <a:ext cx="73152" cy="3474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Befund 2: Google = Linear-Baseline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Statistisch ununterscheidbar (p=0.11):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8288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(battery / drain_rate)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MAE 3.30 h, C-Index 0.770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API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(privilegierter Systemzugang)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MAE 3.37 h, C-Index 0.762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Hardware-Vorteil zahlt sich erst bei sehr langen Restzeiten aus (&gt;=30 h: C 0.98 vs. 0.64).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(ehrlich)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9601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98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Akku wird selten ganz leer gefahren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Akku wird im Alltag nie auf 0 % entladen — Grundeigenschaft der Daten, gleiche Beobachtung bei Li et al. (2018) mit 51 Nutzern. Deshalb C-Index als Hauptmaß statt MAE.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73152" cy="9601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41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Multi-Device, aber nicht Cross-Device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sieht alle vier Geräte. Wie das Modell auf einem komplett neuen Gerät funktionieren würde, ist offene Folgearbeit.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474720"/>
            <a:ext cx="73152" cy="9601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84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auf Pixel 9 Pro XL überraschend schlecht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931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schafft dort nur C-Index 0,57, während Random Forest auf denselben Daten 0,77 erreicht. Warum genau, ist mit den aktuellen Daten nicht erklärbar — offen für Folgearbeiten.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Antwort auf die Forschungsfrage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97480" cy="256032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schlägt Mean (C 0.66), bleibt aber hinter Linear/Exp/Google (C ~ 0.77). Google nicht signifikant besser als Linear.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697480" cy="256032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Effizienz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29000" y="19202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TFLite-Quantisierung funktioniert. 14.4 KB, 3.3 us. Auf dieser Achse hat TinyML uneingeschränkt seinen Wert.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697480" cy="2560320"/>
          </a:xfrm>
          <a:prstGeom prst="rect">
            <a:avLst/>
          </a:prstGeom>
          <a:solidFill>
            <a:srgbClr val="FFFFFF">
              <a:alpha val="8000"/>
            </a:srgbClr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Datenvielfalt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63640" y="19202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0,75 auf Pixel 7 Pro, 0,59 auf Xiaomi. Engpass nicht am Modell, sondern an Sensor-Qualität und fehlendem Entlade-Verlauf (Xiaomi-Akku 88,8 % der Zeit voll).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3931920" y="2331720"/>
            <a:ext cx="128016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606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794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Keno Schürger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für Akkulaufzeit-Vorhersage auf Android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Schürger - TinyML für Akkulaufzeit-Vorhersage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TinyML für Akkulaufzeit-Vorhersage auf Android - Verteidigung</dc:title>
  <dc:subject>PptxGenJS Presentation</dc:subject>
  <dc:creator>Keno Schürger</dc:creator>
  <cp:lastModifiedBy>Keno Schürger</cp:lastModifiedBy>
  <cp:revision>1</cp:revision>
  <dcterms:created xsi:type="dcterms:W3CDTF">2026-06-29T11:52:18Z</dcterms:created>
  <dcterms:modified xsi:type="dcterms:W3CDTF">2026-06-29T11:52:18Z</dcterms:modified>
</cp:coreProperties>
</file>
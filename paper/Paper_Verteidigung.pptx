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346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F3460"/>
                </a:solidFill>
                <a:latin typeface="Arial"/>
              </a:rPr>
              <a:t>C-Index nach Geraet (vs. y_extrap)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TinyML</c:v>
                </c:pt>
              </c:strCache>
            </c:strRef>
          </c:tx>
          <c:spPr>
            <a:solidFill>
              <a:srgbClr val="2196F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0.786</c:v>
                </c:pt>
                <c:pt idx="1">
                  <c:v>0.714</c:v>
                </c:pt>
                <c:pt idx="2">
                  <c:v>0.599</c:v>
                </c:pt>
                <c:pt idx="3">
                  <c:v>0.593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Forest</c:v>
                </c:pt>
              </c:strCache>
            </c:strRef>
          </c:tx>
          <c:spPr>
            <a:solidFill>
              <a:srgbClr val="9C27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0.804</c:v>
                </c:pt>
                <c:pt idx="1">
                  <c:v>0.801</c:v>
                </c:pt>
                <c:pt idx="2">
                  <c:v>0.759</c:v>
                </c:pt>
                <c:pt idx="3">
                  <c:v>0.631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Linear</c:v>
                </c:pt>
              </c:strCache>
            </c:strRef>
          </c:tx>
          <c:spPr>
            <a:solidFill>
              <a:srgbClr val="455A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0.792</c:v>
                </c:pt>
                <c:pt idx="1">
                  <c:v>0.696</c:v>
                </c:pt>
                <c:pt idx="2">
                  <c:v>0.73</c:v>
                </c:pt>
                <c:pt idx="3">
                  <c:v>0.724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Google API</c:v>
                </c:pt>
              </c:strCache>
            </c:strRef>
          </c:tx>
          <c:spPr>
            <a:solidFill>
              <a:srgbClr val="FF9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0.853</c:v>
                </c:pt>
                <c:pt idx="1">
                  <c:v>0.921</c:v>
                </c:pt>
                <c:pt idx="2">
                  <c:v>0.677</c:v>
                </c:pt>
                <c:pt idx="3">
                  <c:v>0.664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App-Level TinyML fuer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Akkulaufzeit-Vorhersage auf Android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7889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9260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methodisch ehrlicher Erfahrungsbericht aus dem Multi-Device-Vergleich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84048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Schuerger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Technische Hochschule Wuerzburg-Schweinfurt (THWS)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Vertiefungsseminar - Mai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Forschungsfrage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73152" cy="182880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8872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"Wie gut kann TinyML die Akkulaufzeit auf Android vorhersagen im Vergleich zu exponentiellem Fitting und der nativen Google-API, bezogen auf Genauigkeit sowie Effizienz?"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383280"/>
            <a:ext cx="237744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andere Methoden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83280" y="3383280"/>
            <a:ext cx="237744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7472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(C-Index, MAE)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383280"/>
            <a:ext cx="237744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(Latenz, Modellgroesse)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Akkuvorhersage auf Android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Klassisch: Settings-App rechnet linear hoch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Ignoriert aktuelle Nutzung, App-Kontext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MIUI/OneUI: oft Legacy-Code seit Android 5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sich seit Android 12 (2021) aendert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PowerManager.getBatteryDischargePrediction()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Erstes ML-Modell direkt im Android-System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Laeuft im Systemprozess - privilegierter Zugriff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4564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Forschungsfrage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Kann eine Drittanbieter-App, die nur oeffentliche Sensor-APIs nutzt, mit der System-API mithalten - oder ueberhaupt etwas Sinnvolles lernen?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Verwandte Arbeiten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16916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et al. (2018)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 Battery Prediction at Scale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Nutzer, 21 Monate. Fuehrt den Concordance-Index als Standard-Metrik ein, weil das 'severe data missing problem' (User entladen selten auf 0%) MAE unzuverlaessig macht.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051560"/>
            <a:ext cx="73152" cy="169164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Flores-Martin et al. (2024)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auf Android, DNN vs. LSTM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4632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Direkter Methodik-Verwandter. LSTM auf user-spezifischen App-, Sensor-, Screen-Time-Features.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926080"/>
            <a:ext cx="73152" cy="169164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Banbury et al. (2021) - MLPerf Tiny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Industriestandard-Benchmark fuer TinyML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Misst Accuracy, Latency, Energy gemeinsam. Smartphone-Anwendungen fehlen in der Literatur (siehe Heydari &amp; Mahmoud 2025, Alajlan &amp; Ibrahim 2022).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2926080"/>
            <a:ext cx="73152" cy="169164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Albelali &amp; Ahmed (2025)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4632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Leaks in Time Series Forecasting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Random-Shuffle-Splits ueber Sliding-Window-Sequenzen lecken Future-Information. RMSE Gain bis 20.5% bei 10-fold CV (LSTM).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Datensammlung: 4 Geraete, 45 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66.001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Messungen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7" name="Text 5"/>
          <p:cNvSpPr/>
          <p:nvPr/>
        </p:nvSpPr>
        <p:spPr>
          <a:xfrm>
            <a:off x="256032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56032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Geraete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Tage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66344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Zeitraum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76656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5943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109728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Messungen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Aktive Tage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Xiaomi 2107113SG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7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9 Pro XL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8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6675120" y="2331720"/>
            <a:ext cx="201168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66560" y="2423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Features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766560" y="2715768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battery_level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screen_on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brightness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active_app_category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wifi_on / mobile_data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charging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cpu_usage (proxy)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hotspot_on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Methoden im Vergleich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265176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Conv1D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Eigenes Modell, 5.697 Param., 14 KB INT8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Hauptmodell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1097280"/>
            <a:ext cx="265176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Trees auf gleichen Features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(anderes Paradigma)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097280"/>
            <a:ext cx="2651760" cy="73152"/>
          </a:xfrm>
          <a:prstGeom prst="rect">
            <a:avLst/>
          </a:prstGeom>
          <a:solidFill>
            <a:srgbClr val="9E9E9E"/>
          </a:solidFill>
          <a:ln/>
        </p:spPr>
      </p:sp>
      <p:sp>
        <p:nvSpPr>
          <p:cNvPr id="15" name="Text 13"/>
          <p:cNvSpPr/>
          <p:nvPr/>
        </p:nvSpPr>
        <p:spPr>
          <a:xfrm>
            <a:off x="617220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Predictor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20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Konstante = Trainings-Mittelwert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7220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(kein Feature-Lernen)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788920"/>
            <a:ext cx="2651760" cy="73152"/>
          </a:xfrm>
          <a:prstGeom prst="rect">
            <a:avLst/>
          </a:prstGeom>
          <a:solidFill>
            <a:srgbClr val="455A64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/ drain_rate (BatteryManager)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46120" y="2788920"/>
            <a:ext cx="265176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5" name="Text 23"/>
          <p:cNvSpPr/>
          <p:nvPr/>
        </p:nvSpPr>
        <p:spPr>
          <a:xfrm>
            <a:off x="338328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Fit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8328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b(t) = a + c*exp(-k*t) per Segment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8328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35040" y="2788920"/>
            <a:ext cx="265176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30" name="Text 28"/>
          <p:cNvSpPr/>
          <p:nvPr/>
        </p:nvSpPr>
        <p:spPr>
          <a:xfrm>
            <a:off x="617220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17220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getBatteryDischargePrediction() (Android 12+)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7220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the Art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Methodik-Kernpunkt: Segment-Level-Split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Random-Shuffle ueber Sliding-Window-Sequenzen leckt Future-Information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920240"/>
                <a:gridCol w="192024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Sequenzen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Random-Split (leaky)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Segment-Level (clean)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Device (Xiaomi)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9.96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~19x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Multi-Device (4 Geraete)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4.97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~1.24x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2606040"/>
            <a:ext cx="822960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das bedeutet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30632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Single-Device: random-shuffle taeuscht eine 19x bessere Performance vor - reines Leakage-Artefakt.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Multi-Device: nur noch 1.24x Inflation, im Bereich von Albelali &amp; Ahmed (2025) mit 10-fold CV.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Eigener methodischer Beitrag: Inflation ist data-diversity-dependent. Empfehlung fuer Folgearbeiten in dieser Domaene: Splitting-Strategie explizit nennen.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1: Common Subset (n=2.827)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y_extrap, 95% Bootstrap-CI, leakage-freier Multi-Device-Split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  <a:gridCol w="23774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C-Index 95%-CI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+/- 2h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Predictor (floor)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 [0.500, 0.500]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Conv1D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 [0.656, 0.675]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27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 [0.673, 0.696]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5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(drain rate)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 [0.767, 0.784]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Exponential fit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 [0.764, 0.781]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9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 [0.767, 0.785]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40690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schlagen Mean-Predictor signifikant. Linear, Exp und Google bilden eine gemeinsame Spitzengruppe bei C ~ 0.77.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2: Statistische Signifikanz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Paarweise Permutationstests auf C-Index (Common Subset n=2.827)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31520"/>
                <a:gridCol w="731520"/>
                <a:gridCol w="914400"/>
                <a:gridCol w="73152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Vergleich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 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ueber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ueber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Exponential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 - ueberraschend!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Google klar besser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246120"/>
            <a:ext cx="8229600" cy="1508760"/>
          </a:xfrm>
          <a:prstGeom prst="rect">
            <a:avLst/>
          </a:prstGeom>
          <a:solidFill>
            <a:srgbClr val="FFF5F5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331012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Ueberraschender Befund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363016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Linear-Drain-Rate-Baseline ist statistisch nicht von Google-API unterscheidbar (p=0.83 fuer C, p=0.55 fuer MAE).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(TinyML, Random Forest) signifikant ueber Mean-Predictor, aber signifikant unter der Spitzengruppe.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Implikation: 'einfach BatteryManager-Counter lesen' ist auf Aggregat-Ebene konkurrenzfaehig mit dem System-ML-Estimator.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4507992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Nuance: Aggregat-Befund. Im Bucket &gt;=30h (n=58) gewinnt Google klar (C 0.98 vs 0.64). Auf kurzen/mittleren Restzeiten (~97% der Daten) wirklich praktisch identisch.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3: Per-Device (Hardware-Effekt)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Derselbe TinyML-Conv1D, evaluiert pro Geraet - der praktisch relevanteste Befund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7160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94360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Beobachtungen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0" y="173736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TinyML: 0.79 (Pixel 7 Pro) bis 0.59 (Xiaomi)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Baselines stabiler ueber Geraete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9 Pro XL: Linear (0.73) &gt; Google (0.68)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8 Pro: nur n=98 (breite CIs)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0" y="3520440"/>
            <a:ext cx="2743200" cy="105156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35040" y="35844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Confounder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035040" y="3840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Xiaomi-Daten: Akku 88.8% der Zeit ueber 75% (mean 94%). Wenig Discharge-Dynamik zum Lernen. Sensor-Qualitaet UND Datenverteilung gemischt.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4: Effizienz (TFLite funktioniert)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187452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</a:t>
            </a:r>
            <a:pPr algn="ctr" indent="0" marL="0">
              <a:buNone/>
            </a:pPr>
            <a:r>
              <a:rPr lang="en-US" sz="1600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KB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Modell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0" y="1051560"/>
            <a:ext cx="187452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/>
          <p:nvPr/>
        </p:nvSpPr>
        <p:spPr>
          <a:xfrm>
            <a:off x="256032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pPr algn="ctr" indent="0" marL="0">
              <a:buNone/>
            </a:pPr>
            <a:r>
              <a:rPr lang="en-US" sz="16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60604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Inferenz-Latenz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051560"/>
            <a:ext cx="187452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7.6x</a:t>
            </a:r>
            <a:pPr algn="ctr" indent="0" marL="0">
              <a:buNone/>
            </a:pPr>
            <a:r>
              <a:rPr lang="en-US" sz="1600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70916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kleiner als Keras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6656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0" y="1051560"/>
            <a:ext cx="187452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10.000x</a:t>
            </a:r>
            <a:pPr algn="ctr" indent="0" marL="0">
              <a:buNone/>
            </a:pPr>
            <a:r>
              <a:rPr lang="en-US" sz="1600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81228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schneller als Keras Float32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5029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Groesse (KB)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Latenz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Keras Float32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dynamic-range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float16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INT8 (Deploy)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760720" y="2606040"/>
            <a:ext cx="2926080" cy="182880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97880" y="2697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Take-away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897880" y="30175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TinyML-Quantisierungs-Pipeline funktioniert wie beworben. Auf der Effizienz-Achse hat TinyML keinen Wettbewerbsnachteil - der Engpass liegt allein auf der Accuracy-Achse.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 1: TinyML lernt Signal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 als auf Single-Device-Setup ist TinyML hier kein Mean-Predictor mehr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8229600" cy="1188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73152" cy="11887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5544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Device (frueher Stand)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9202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C-Index 0.50 = Mean-Predictor. Random Forest 0.51. Beide statistisch nicht von 'kein Modell' unterscheidbar.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788920"/>
            <a:ext cx="8229600" cy="1188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788920"/>
            <a:ext cx="73152" cy="1188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926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 (jetzt)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2918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C-Index 0.67, RF 0.69. Beide signifikant ueber Floor (p&lt;=0.005). ML lernt erkennbares Signal.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Aber: ML bleibt hinter analytischen Baselines + Google bei C ~ 0.77.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 2: Google = Linear-Baseline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der gemeinsamen Schnittmenge sind die System-API und die einfache lineare Drain-Rate-Baseline statistisch ununterscheidbar.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91640"/>
            <a:ext cx="3931920" cy="2377440"/>
          </a:xfrm>
          <a:prstGeom prst="rect">
            <a:avLst/>
          </a:prstGeom>
          <a:solidFill>
            <a:srgbClr val="F8FAFC"/>
          </a:solidFill>
          <a:ln w="12700">
            <a:solidFill>
              <a:srgbClr val="455A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(battery / drain_rate)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Liest BatteryManager.CHARGE_COUNTER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Liest BatteryManager.CURRENT_AVERAGE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MAE: 3.21 h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C-Index: 0.776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691640"/>
            <a:ext cx="3931920" cy="2377440"/>
          </a:xfrm>
          <a:prstGeom prst="rect">
            <a:avLst/>
          </a:prstGeom>
          <a:solidFill>
            <a:srgbClr val="F8FAFC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 (Systemprozess)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0" y="219456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Zusaetzliche privilegierte Signale: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PowerStats HAL (per-App-Strom)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Adaptive-Battery-Integration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MAE: 3.24 h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C-Index: 0.777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4206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zusaetzliche Hardware-Zugang von Google traegt nichts Messbares fuer 'Stunden bis 0%' bei (Permutationstest p=0.83 fuer C, p=0.55 fuer MAE).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(ehrlich)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73152" cy="64008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0515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Right-censored Daten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29844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 wird im Alltag nie auf 0% entladen. Strukturelle Eigenschaft der Domaene, nicht der Studie - gleiche Beobachtung bei Li et al. (2018) mit 51 Nutzern.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764792"/>
            <a:ext cx="73152" cy="64008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76479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Common-Subset-Selection-Bias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0116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 Google-API definiert ist, sind die Restzeiten kuerzer (mean 6.7 h vs. 7.7 h im gesamten Test). Affektiert MAE symmetrisch, Ranking unaffected.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478024"/>
            <a:ext cx="73152" cy="64008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47802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Multi-Device, aber nicht Cross-Device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2724912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sieht alle 4 Geraete. Eine Leave-One-Device-Out-Studie ist offene Folgearbeit.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191256"/>
            <a:ext cx="73152" cy="64008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19125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n=98 fuer Pixel 8 Pro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85800" y="3438144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Breite Konfidenzintervalle. C-Index 0.92 ist Punktwert mit wenig statistischer Sicherheit.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904488"/>
            <a:ext cx="73152" cy="64008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90448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auf Pixel 9 Pro XL anomal schlecht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85800" y="4151376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C=0.60 waehrend RF auf demselben Geraet C=0.76 erreicht. Keine kausale Erklaerung im aktuellen Datensatz.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Antwort auf die Forschungsfrage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schlaegt Mean (C 0.67), bleibt aber hinter Linear/Exp/Google (C ~ 0.77). Google nicht signifikant besser als Linear.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9184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4CAF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2900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42900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TFLite-Quantisierung funktioniert. 14.4 KB, 4.5 us. Auf dieser Achse hat TinyML uneingeschraenkt seinen Wert.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FF9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364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&amp; Daten-Coverage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6364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0.79 auf Pixel 7 Pro, 0.59 auf Xiaomi. Engpass: Sensor-Qualitaet UND Discharge-Dynamik-Coverage (Xiaomi-Akku 88.8% der Zeit voll). Nicht die Modellarchitektur.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Methodischer Beitrag: Segment-Level-Split als Standard fuer Sliding-Window-Time-Series in Mobile-Sensing.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 - Fragen?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Vorbereitete Antworten auf erwartete Fragen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73152" cy="68580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716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F: Warum kein positives Ergebnis?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85800" y="164592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Das positive Ergebnis (MAE 0.5h Single-Device) war Leakage-Artefakt. Die saubere Methodik enthuellt das. Beitrag der Arbeit ist genau diese Korrektur.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148840"/>
            <a:ext cx="73152" cy="68580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1488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F: Warum nur 4 Geraete, kein Cross-Device-Test?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24231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Methodisch ehrliche Limitation. Aber: Hauptbefund (Informations-Asymmetrie) ist nicht geraet-spezifisch und auf 4 Geraeten bestaetigt.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926080"/>
            <a:ext cx="73152" cy="68580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29260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F: Wieso Linear ~ Google?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85800" y="3200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p=0.83 fuer C, p=0.55 fuer MAE. Drain-Rate ist das dominante Signal. Googles Hardware-Zugang bringt fuer 'Stunden bis 0%' keinen Mehrwert.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703320"/>
            <a:ext cx="73152" cy="68580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7033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F: Was tun fuer Folgestudien?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39776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Leave-One-Device-Out, kontrollierte Vollentlade-Zyklen, Multi-Device-Sweep ueber N&gt;=5 Geraete.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Schuerger - TinyML fuer Akkulaufzeit-Vorhersage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TinyML fuer Akkulaufzeit-Vorhersage auf Android - Verteidigung</dc:title>
  <dc:subject>PptxGenJS Presentation</dc:subject>
  <dc:creator>Keno Schuerger</dc:creator>
  <cp:lastModifiedBy>Keno Schuerger</cp:lastModifiedBy>
  <cp:revision>1</cp:revision>
  <dcterms:created xsi:type="dcterms:W3CDTF">2026-05-11T07:40:30Z</dcterms:created>
  <dcterms:modified xsi:type="dcterms:W3CDTF">2026-05-11T07:40:30Z</dcterms:modified>
</cp:coreProperties>
</file>